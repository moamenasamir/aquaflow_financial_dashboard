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3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4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5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196" autoAdjust="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780</c:v>
                </c:pt>
                <c:pt idx="1">
                  <c:v>820</c:v>
                </c:pt>
                <c:pt idx="2">
                  <c:v>910</c:v>
                </c:pt>
                <c:pt idx="3">
                  <c:v>870</c:v>
                </c:pt>
                <c:pt idx="4">
                  <c:v>920</c:v>
                </c:pt>
                <c:pt idx="5">
                  <c:v>960</c:v>
                </c:pt>
                <c:pt idx="6">
                  <c:v>1050</c:v>
                </c:pt>
                <c:pt idx="7">
                  <c:v>1030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DD-4157-BFF9-80B9C76CE0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540</c:v>
                </c:pt>
                <c:pt idx="1">
                  <c:v>570</c:v>
                </c:pt>
                <c:pt idx="2">
                  <c:v>620</c:v>
                </c:pt>
                <c:pt idx="3">
                  <c:v>580</c:v>
                </c:pt>
                <c:pt idx="4">
                  <c:v>640</c:v>
                </c:pt>
                <c:pt idx="5">
                  <c:v>660</c:v>
                </c:pt>
                <c:pt idx="6">
                  <c:v>720</c:v>
                </c:pt>
                <c:pt idx="7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DD-4157-BFF9-80B9C76CE0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155-4642-A459-D6E2E6C200B4}"/>
              </c:ext>
            </c:extLst>
          </c:dPt>
          <c:dPt>
            <c:idx val="1"/>
            <c:bubble3D val="0"/>
            <c:spPr>
              <a:solidFill>
                <a:srgbClr val="14A8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55-4642-A459-D6E2E6C200B4}"/>
              </c:ext>
            </c:extLst>
          </c:dPt>
          <c:dPt>
            <c:idx val="2"/>
            <c:bubble3D val="0"/>
            <c:spPr>
              <a:solidFill>
                <a:srgbClr val="344C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55-4642-A459-D6E2E6C200B4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55-4642-A459-D6E2E6C200B4}"/>
              </c:ext>
            </c:extLst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155-4642-A459-D6E2E6C200B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55-4642-A459-D6E2E6C200B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55-4642-A459-D6E2E6C200B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55-4642-A459-D6E2E6C200B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55-4642-A459-D6E2E6C200B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55-4642-A459-D6E2E6C200B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Water Supply</c:v>
                </c:pt>
                <c:pt idx="1">
                  <c:v>Sewage Services</c:v>
                </c:pt>
                <c:pt idx="2">
                  <c:v>Industrial</c:v>
                </c:pt>
                <c:pt idx="3">
                  <c:v>Govt. Contracts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27</c:v>
                </c:pt>
                <c:pt idx="2">
                  <c:v>18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155-4642-A459-D6E2E6C20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Working Capital (AED K)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320</c:v>
                </c:pt>
                <c:pt idx="1">
                  <c:v>280</c:v>
                </c:pt>
                <c:pt idx="2">
                  <c:v>370</c:v>
                </c:pt>
                <c:pt idx="3">
                  <c:v>350</c:v>
                </c:pt>
                <c:pt idx="4">
                  <c:v>410</c:v>
                </c:pt>
                <c:pt idx="5">
                  <c:v>390</c:v>
                </c:pt>
                <c:pt idx="6">
                  <c:v>450</c:v>
                </c:pt>
                <c:pt idx="7">
                  <c:v>430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78-446D-9BB5-0E7EE002A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(AED K)</c:v>
                </c:pt>
              </c:strCache>
            </c:strRef>
          </c:tx>
          <c:spPr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</c:v>
                </c:pt>
                <c:pt idx="1">
                  <c:v>75</c:v>
                </c:pt>
                <c:pt idx="2">
                  <c:v>95</c:v>
                </c:pt>
                <c:pt idx="3">
                  <c:v>80</c:v>
                </c:pt>
                <c:pt idx="4">
                  <c:v>98</c:v>
                </c:pt>
                <c:pt idx="5">
                  <c:v>102</c:v>
                </c:pt>
                <c:pt idx="6">
                  <c:v>130</c:v>
                </c:pt>
                <c:pt idx="7">
                  <c:v>120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692-4377-86DD-FE48EDC8F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4C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8B-494B-9D3B-ACEA39C2B1DA}"/>
              </c:ext>
            </c:extLst>
          </c:dPt>
          <c:dPt>
            <c:idx val="1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8B-494B-9D3B-ACEA39C2B1DA}"/>
              </c:ext>
            </c:extLst>
          </c:dPt>
          <c:dPt>
            <c:idx val="2"/>
            <c:bubble3D val="0"/>
            <c:spPr>
              <a:solidFill>
                <a:srgbClr val="14A8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8B-494B-9D3B-ACEA39C2B1DA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8B-494B-9D3B-ACEA39C2B1DA}"/>
              </c:ext>
            </c:extLst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8B-494B-9D3B-ACEA39C2B1DA}"/>
              </c:ext>
            </c:extLst>
          </c:dPt>
          <c:dPt>
            <c:idx val="5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48B-494B-9D3B-ACEA39C2B1D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48B-494B-9D3B-ACEA39C2B1D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48B-494B-9D3B-ACEA39C2B1D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48B-494B-9D3B-ACEA39C2B1D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48B-494B-9D3B-ACEA39C2B1D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48B-494B-9D3B-ACEA39C2B1DA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48B-494B-9D3B-ACEA39C2B1D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Operations</c:v>
                </c:pt>
                <c:pt idx="1">
                  <c:v>Admin</c:v>
                </c:pt>
                <c:pt idx="2">
                  <c:v>Maintenance</c:v>
                </c:pt>
                <c:pt idx="3">
                  <c:v>HR</c:v>
                </c:pt>
                <c:pt idx="4">
                  <c:v>Finance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9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48B-494B-9D3B-ACEA39C2B1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Expenses</c:v>
                </c:pt>
              </c:strCache>
            </c:strRef>
          </c:tx>
          <c:spPr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570</c:v>
                </c:pt>
                <c:pt idx="1">
                  <c:v>610</c:v>
                </c:pt>
                <c:pt idx="2">
                  <c:v>660</c:v>
                </c:pt>
                <c:pt idx="3">
                  <c:v>625</c:v>
                </c:pt>
                <c:pt idx="4">
                  <c:v>680</c:v>
                </c:pt>
                <c:pt idx="5">
                  <c:v>710</c:v>
                </c:pt>
                <c:pt idx="6">
                  <c:v>760</c:v>
                </c:pt>
                <c:pt idx="7">
                  <c:v>745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681-4B8D-B0FA-17DA58EBDD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 Budget</c:v>
                </c:pt>
              </c:strCache>
            </c:strRef>
          </c:tx>
          <c:spPr>
            <a:ln w="31750" cap="flat">
              <a:solidFill>
                <a:srgbClr val="14A8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A8B5"/>
              </a:solidFill>
              <a:ln w="9525" cap="flat">
                <a:solidFill>
                  <a:srgbClr val="14A8B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600</c:v>
                </c:pt>
                <c:pt idx="1">
                  <c:v>600</c:v>
                </c:pt>
                <c:pt idx="2">
                  <c:v>650</c:v>
                </c:pt>
                <c:pt idx="3">
                  <c:v>650</c:v>
                </c:pt>
                <c:pt idx="4">
                  <c:v>700</c:v>
                </c:pt>
                <c:pt idx="5">
                  <c:v>700</c:v>
                </c:pt>
                <c:pt idx="6">
                  <c:v>750</c:v>
                </c:pt>
                <c:pt idx="7">
                  <c:v>750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681-4B8D-B0FA-17DA58EBD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Water Supply</c:v>
                </c:pt>
                <c:pt idx="1">
                  <c:v>Sewage</c:v>
                </c:pt>
                <c:pt idx="2">
                  <c:v>Industrial</c:v>
                </c:pt>
                <c:pt idx="3">
                  <c:v>Govt Contracts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2600</c:v>
                </c:pt>
                <c:pt idx="1">
                  <c:v>1850</c:v>
                </c:pt>
                <c:pt idx="2">
                  <c:v>1230</c:v>
                </c:pt>
                <c:pt idx="3">
                  <c:v>820</c:v>
                </c:pt>
                <c:pt idx="4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D2-4CBF-B1B9-C671057584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FDA4A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Water Supply</c:v>
                </c:pt>
                <c:pt idx="1">
                  <c:v>Sewage</c:v>
                </c:pt>
                <c:pt idx="2">
                  <c:v>Industrial</c:v>
                </c:pt>
                <c:pt idx="3">
                  <c:v>Govt Contracts</c:v>
                </c:pt>
                <c:pt idx="4">
                  <c:v>Other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1200</c:v>
                </c:pt>
                <c:pt idx="1">
                  <c:v>900</c:v>
                </c:pt>
                <c:pt idx="2">
                  <c:v>580</c:v>
                </c:pt>
                <c:pt idx="3">
                  <c:v>340</c:v>
                </c:pt>
                <c:pt idx="4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D2-4CBF-B1B9-C671057584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Working Capital</c:v>
                </c:pt>
              </c:strCache>
            </c:strRef>
          </c:tx>
          <c:spPr>
            <a:solidFill>
              <a:srgbClr val="0E7C86"/>
            </a:solidFill>
            <a:effectLst/>
          </c:spP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320</c:v>
                </c:pt>
                <c:pt idx="1">
                  <c:v>280</c:v>
                </c:pt>
                <c:pt idx="2">
                  <c:v>370</c:v>
                </c:pt>
                <c:pt idx="3">
                  <c:v>350</c:v>
                </c:pt>
                <c:pt idx="4">
                  <c:v>410</c:v>
                </c:pt>
                <c:pt idx="5">
                  <c:v>390</c:v>
                </c:pt>
                <c:pt idx="6">
                  <c:v>450</c:v>
                </c:pt>
                <c:pt idx="7">
                  <c:v>430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F-45B1-ADA7-EDEBEB3B05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4C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48-4D01-A52E-5594612C2A75}"/>
              </c:ext>
            </c:extLst>
          </c:dPt>
          <c:dPt>
            <c:idx val="1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48-4D01-A52E-5594612C2A75}"/>
              </c:ext>
            </c:extLst>
          </c:dPt>
          <c:dPt>
            <c:idx val="2"/>
            <c:bubble3D val="0"/>
            <c:spPr>
              <a:solidFill>
                <a:srgbClr val="14A8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48-4D01-A52E-5594612C2A75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48-4D01-A52E-5594612C2A75}"/>
              </c:ext>
            </c:extLst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48-4D01-A52E-5594612C2A75}"/>
              </c:ext>
            </c:extLst>
          </c:dPt>
          <c:dPt>
            <c:idx val="5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D48-4D01-A52E-5594612C2A7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48-4D01-A52E-5594612C2A7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48-4D01-A52E-5594612C2A7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48-4D01-A52E-5594612C2A7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48-4D01-A52E-5594612C2A7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48-4D01-A52E-5594612C2A7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D48-4D01-A52E-5594612C2A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Operations</c:v>
                </c:pt>
                <c:pt idx="1">
                  <c:v>Admin</c:v>
                </c:pt>
                <c:pt idx="2">
                  <c:v>Maintenance</c:v>
                </c:pt>
                <c:pt idx="3">
                  <c:v>HR</c:v>
                </c:pt>
                <c:pt idx="4">
                  <c:v>Finance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9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D48-4D01-A52E-5594612C2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Assets (AED K)</c:v>
                </c:pt>
              </c:strCache>
            </c:strRef>
          </c:tx>
          <c:spPr>
            <a:ln w="254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Q1 22</c:v>
                </c:pt>
                <c:pt idx="1">
                  <c:v>Q2 22</c:v>
                </c:pt>
                <c:pt idx="2">
                  <c:v>Q3 22</c:v>
                </c:pt>
                <c:pt idx="3">
                  <c:v>Q4 22</c:v>
                </c:pt>
                <c:pt idx="4">
                  <c:v>Q1 23</c:v>
                </c:pt>
                <c:pt idx="5">
                  <c:v>Q2 23</c:v>
                </c:pt>
                <c:pt idx="6">
                  <c:v>Q3 23</c:v>
                </c:pt>
                <c:pt idx="7">
                  <c:v>Q4 23</c:v>
                </c:pt>
                <c:pt idx="8">
                  <c:v>Q1 24</c:v>
                </c:pt>
                <c:pt idx="9">
                  <c:v>Q2 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168000</c:v>
                </c:pt>
                <c:pt idx="1">
                  <c:v>172000</c:v>
                </c:pt>
                <c:pt idx="2">
                  <c:v>178000</c:v>
                </c:pt>
                <c:pt idx="3">
                  <c:v>183000</c:v>
                </c:pt>
                <c:pt idx="4">
                  <c:v>188000</c:v>
                </c:pt>
                <c:pt idx="5">
                  <c:v>193000</c:v>
                </c:pt>
                <c:pt idx="6">
                  <c:v>198000</c:v>
                </c:pt>
                <c:pt idx="7">
                  <c:v>205000</c:v>
                </c:pt>
                <c:pt idx="8">
                  <c:v>212000</c:v>
                </c:pt>
                <c:pt idx="9">
                  <c:v>222000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2B7-49D1-8D80-6F88803370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Assets</c:v>
                </c:pt>
              </c:strCache>
            </c:strRef>
          </c:tx>
          <c:spPr>
            <a:ln w="25400" cap="flat">
              <a:solidFill>
                <a:srgbClr val="14A8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A8B5"/>
              </a:solidFill>
              <a:ln w="9525" cap="flat">
                <a:solidFill>
                  <a:srgbClr val="14A8B5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Q1 22</c:v>
                </c:pt>
                <c:pt idx="1">
                  <c:v>Q2 22</c:v>
                </c:pt>
                <c:pt idx="2">
                  <c:v>Q3 22</c:v>
                </c:pt>
                <c:pt idx="3">
                  <c:v>Q4 22</c:v>
                </c:pt>
                <c:pt idx="4">
                  <c:v>Q1 23</c:v>
                </c:pt>
                <c:pt idx="5">
                  <c:v>Q2 23</c:v>
                </c:pt>
                <c:pt idx="6">
                  <c:v>Q3 23</c:v>
                </c:pt>
                <c:pt idx="7">
                  <c:v>Q4 23</c:v>
                </c:pt>
                <c:pt idx="8">
                  <c:v>Q1 24</c:v>
                </c:pt>
                <c:pt idx="9">
                  <c:v>Q2 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19200</c:v>
                </c:pt>
                <c:pt idx="1">
                  <c:v>20400</c:v>
                </c:pt>
                <c:pt idx="2">
                  <c:v>21800</c:v>
                </c:pt>
                <c:pt idx="3">
                  <c:v>22100</c:v>
                </c:pt>
                <c:pt idx="4">
                  <c:v>23000</c:v>
                </c:pt>
                <c:pt idx="5">
                  <c:v>24200</c:v>
                </c:pt>
                <c:pt idx="6">
                  <c:v>25100</c:v>
                </c:pt>
                <c:pt idx="7">
                  <c:v>25800</c:v>
                </c:pt>
                <c:pt idx="8">
                  <c:v>26200</c:v>
                </c:pt>
                <c:pt idx="9">
                  <c:v>26770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B77-495D-A809-E5CB6AA3D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Assets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26-46DC-801F-E9CE18BC20E1}"/>
              </c:ext>
            </c:extLst>
          </c:dPt>
          <c:dPt>
            <c:idx val="1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26-46DC-801F-E9CE18BC20E1}"/>
              </c:ext>
            </c:extLst>
          </c:dPt>
          <c:dPt>
            <c:idx val="2"/>
            <c:bubble3D val="0"/>
            <c:spPr>
              <a:solidFill>
                <a:srgbClr val="14A8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26-46DC-801F-E9CE18BC20E1}"/>
              </c:ext>
            </c:extLst>
          </c:dPt>
          <c:dPt>
            <c:idx val="3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26-46DC-801F-E9CE18BC20E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26-46DC-801F-E9CE18BC20E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26-46DC-801F-E9CE18BC20E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26-46DC-801F-E9CE18BC20E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26-46DC-801F-E9CE18BC20E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Fixed Assets</c:v>
                </c:pt>
                <c:pt idx="1">
                  <c:v>Current Assets</c:v>
                </c:pt>
                <c:pt idx="2">
                  <c:v>Investments</c:v>
                </c:pt>
                <c:pt idx="3">
                  <c:v>Intangibles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32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26-46DC-801F-E9CE18BC20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(AED K)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01-4A32-9AE3-78836FB26D20}"/>
              </c:ext>
            </c:extLst>
          </c:dPt>
          <c:dPt>
            <c:idx val="1"/>
            <c:invertIfNegative val="0"/>
            <c:bubble3D val="0"/>
            <c:spPr>
              <a:solidFill>
                <a:srgbClr val="FDA4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01-4A32-9AE3-78836FB26D2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601-4A32-9AE3-78836FB26D20}"/>
              </c:ext>
            </c:extLst>
          </c:dPt>
          <c:dPt>
            <c:idx val="3"/>
            <c:invertIfNegative val="0"/>
            <c:bubble3D val="0"/>
            <c:spPr>
              <a:solidFill>
                <a:srgbClr val="FDA4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01-4A32-9AE3-78836FB26D2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601-4A32-9AE3-78836FB26D20}"/>
              </c:ext>
            </c:extLst>
          </c:dPt>
          <c:dPt>
            <c:idx val="5"/>
            <c:invertIfNegative val="0"/>
            <c:bubble3D val="0"/>
            <c:spPr>
              <a:solidFill>
                <a:srgbClr val="FDA4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601-4A32-9AE3-78836FB26D2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601-4A32-9AE3-78836FB26D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Revenue</c:v>
                </c:pt>
                <c:pt idx="1">
                  <c:v>(-) COGS</c:v>
                </c:pt>
                <c:pt idx="2">
                  <c:v>Gross Profit</c:v>
                </c:pt>
                <c:pt idx="3">
                  <c:v>(-) OpEx</c:v>
                </c:pt>
                <c:pt idx="4">
                  <c:v>EBIT</c:v>
                </c:pt>
                <c:pt idx="5">
                  <c:v>(-) Tax/Fin</c:v>
                </c:pt>
                <c:pt idx="6">
                  <c:v>Net Profit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6840</c:v>
                </c:pt>
                <c:pt idx="1">
                  <c:v>-2210</c:v>
                </c:pt>
                <c:pt idx="2">
                  <c:v>4630</c:v>
                </c:pt>
                <c:pt idx="3">
                  <c:v>-3510</c:v>
                </c:pt>
                <c:pt idx="4">
                  <c:v>1120</c:v>
                </c:pt>
                <c:pt idx="5">
                  <c:v>-358</c:v>
                </c:pt>
                <c:pt idx="6">
                  <c:v>762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601-4A32-9AE3-78836FB26D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2023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Revenue</c:v>
                </c:pt>
                <c:pt idx="1">
                  <c:v>Gross Profit</c:v>
                </c:pt>
                <c:pt idx="2">
                  <c:v>EBIT</c:v>
                </c:pt>
                <c:pt idx="3">
                  <c:v>Net Profit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6500</c:v>
                </c:pt>
                <c:pt idx="1">
                  <c:v>4290</c:v>
                </c:pt>
                <c:pt idx="2">
                  <c:v>1028</c:v>
                </c:pt>
                <c:pt idx="3">
                  <c:v>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9E-4A4A-8A5E-C2FB1B37B2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2024 YTD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Revenue</c:v>
                </c:pt>
                <c:pt idx="1">
                  <c:v>Gross Profit</c:v>
                </c:pt>
                <c:pt idx="2">
                  <c:v>EBIT</c:v>
                </c:pt>
                <c:pt idx="3">
                  <c:v>Net Profit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6840</c:v>
                </c:pt>
                <c:pt idx="1">
                  <c:v>4630</c:v>
                </c:pt>
                <c:pt idx="2">
                  <c:v>1120</c:v>
                </c:pt>
                <c:pt idx="3">
                  <c:v>762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9E-4A4A-8A5E-C2FB1B37B2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DSO (Days)</c:v>
                </c:pt>
              </c:strCache>
            </c:strRef>
          </c:tx>
          <c:spPr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24.2</c:v>
                </c:pt>
                <c:pt idx="1">
                  <c:v>23.8</c:v>
                </c:pt>
                <c:pt idx="2">
                  <c:v>22.4</c:v>
                </c:pt>
                <c:pt idx="3">
                  <c:v>21.8</c:v>
                </c:pt>
                <c:pt idx="4">
                  <c:v>22.1</c:v>
                </c:pt>
                <c:pt idx="5">
                  <c:v>21.5</c:v>
                </c:pt>
                <c:pt idx="6">
                  <c:v>20.8</c:v>
                </c:pt>
                <c:pt idx="7">
                  <c:v>20.3</c:v>
                </c:pt>
                <c:pt idx="8">
                  <c:v>19.899999999999999</c:v>
                </c:pt>
                <c:pt idx="9">
                  <c:v>19.600000000000001</c:v>
                </c:pt>
                <c:pt idx="10">
                  <c:v>19.5</c:v>
                </c:pt>
                <c:pt idx="11">
                  <c:v>19.399999999999999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6E2-4D4E-8EE8-4668AEE20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CCC</c:v>
                </c:pt>
              </c:strCache>
            </c:strRef>
          </c:tx>
          <c:spPr>
            <a:ln w="254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18.2</c:v>
                </c:pt>
                <c:pt idx="1">
                  <c:v>17.399999999999999</c:v>
                </c:pt>
                <c:pt idx="2">
                  <c:v>16.8</c:v>
                </c:pt>
                <c:pt idx="3">
                  <c:v>16.2</c:v>
                </c:pt>
                <c:pt idx="4">
                  <c:v>16.5</c:v>
                </c:pt>
                <c:pt idx="5">
                  <c:v>15.8</c:v>
                </c:pt>
                <c:pt idx="6">
                  <c:v>15.2</c:v>
                </c:pt>
                <c:pt idx="7">
                  <c:v>14.7</c:v>
                </c:pt>
                <c:pt idx="8">
                  <c:v>14.1</c:v>
                </c:pt>
                <c:pt idx="9">
                  <c:v>13.5</c:v>
                </c:pt>
                <c:pt idx="10">
                  <c:v>12.9</c:v>
                </c:pt>
                <c:pt idx="11">
                  <c:v>12.3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38E-4041-89C6-C3C7520C6B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Avg</c:v>
                </c:pt>
              </c:strCache>
            </c:strRef>
          </c:tx>
          <c:spPr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  <c:pt idx="6">
                  <c:v>Mar</c:v>
                </c:pt>
                <c:pt idx="7">
                  <c:v>Apr</c:v>
                </c:pt>
                <c:pt idx="8">
                  <c:v>May</c:v>
                </c:pt>
                <c:pt idx="9">
                  <c:v>Jun</c:v>
                </c:pt>
                <c:pt idx="10">
                  <c:v>Jul</c:v>
                </c:pt>
                <c:pt idx="11">
                  <c:v>Aug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</c:v>
                </c:pt>
                <c:pt idx="1">
                  <c:v>32</c:v>
                </c:pt>
                <c:pt idx="2">
                  <c:v>32</c:v>
                </c:pt>
                <c:pt idx="3">
                  <c:v>32</c:v>
                </c:pt>
                <c:pt idx="4">
                  <c:v>32</c:v>
                </c:pt>
                <c:pt idx="5">
                  <c:v>32</c:v>
                </c:pt>
                <c:pt idx="6">
                  <c:v>32</c:v>
                </c:pt>
                <c:pt idx="7">
                  <c:v>32</c:v>
                </c:pt>
                <c:pt idx="8">
                  <c:v>32</c:v>
                </c:pt>
                <c:pt idx="9">
                  <c:v>32</c:v>
                </c:pt>
                <c:pt idx="10">
                  <c:v>32</c:v>
                </c:pt>
                <c:pt idx="11">
                  <c:v>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38E-4041-89C6-C3C7520C6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23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201168" y="91440"/>
            <a:ext cx="201168" cy="2011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09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AQUAFLOW UTILITIES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3776" y="30175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Dashboard  |  FY 2024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solidFill>
            <a:srgbClr val="0E7C86"/>
          </a:solidFill>
          <a:ln w="6350">
            <a:solidFill>
              <a:srgbClr val="14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Detail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662025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 |  AquaFlow Utilities Group  |  Finance &amp; Strategy Division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704320" y="6620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0" y="475488"/>
            <a:ext cx="1218895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5486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71600" y="557784"/>
            <a:ext cx="585216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011680" y="557784"/>
            <a:ext cx="585216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651760" y="557784"/>
            <a:ext cx="585216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91840" y="557784"/>
            <a:ext cx="585216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931920" y="557784"/>
            <a:ext cx="585216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72000" y="557784"/>
            <a:ext cx="585216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212080" y="557784"/>
            <a:ext cx="585216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852160" y="557784"/>
            <a:ext cx="585216" cy="1645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92240" y="557784"/>
            <a:ext cx="585216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132320" y="557784"/>
            <a:ext cx="585216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772400" y="557784"/>
            <a:ext cx="585216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12480" y="557784"/>
            <a:ext cx="585216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5577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9966960" y="5486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 |  MTD  |  Refresh ↻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1168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01168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6.84M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365760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+5.2% YoY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70432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Budget: AED 6.50M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523744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523744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88336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REVENUE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88336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2.21M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2688336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88336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-2.1% YoY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493008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67.7%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846320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46320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10912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010912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4.63M</a:t>
            </a:r>
            <a:endParaRPr lang="en-US" sz="2200" dirty="0"/>
          </a:p>
        </p:txBody>
      </p:sp>
      <p:sp>
        <p:nvSpPr>
          <p:cNvPr id="64" name="Shape 62"/>
          <p:cNvSpPr/>
          <p:nvPr/>
        </p:nvSpPr>
        <p:spPr>
          <a:xfrm>
            <a:off x="5010912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10912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+7.8% YoY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815584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Margin: 67.7%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168896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168896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33488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333488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3.75M</a:t>
            </a:r>
            <a:endParaRPr lang="en-US" sz="2200" dirty="0"/>
          </a:p>
        </p:txBody>
      </p:sp>
      <p:sp>
        <p:nvSpPr>
          <p:cNvPr id="71" name="Shape 69"/>
          <p:cNvSpPr/>
          <p:nvPr/>
        </p:nvSpPr>
        <p:spPr>
          <a:xfrm>
            <a:off x="7333488" y="1591056"/>
            <a:ext cx="73152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33488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+3.4% YoY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138160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Ratio: 54.8%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491472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9491472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56064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656064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762K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9656064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656064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+12.4% YoY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0460736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 11.1%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01168" y="1975104"/>
            <a:ext cx="58521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365760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Expenses — Monthly Trend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65760" y="2276856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84" name="Chart 0"/>
          <p:cNvGraphicFramePr/>
          <p:nvPr/>
        </p:nvGraphicFramePr>
        <p:xfrm>
          <a:off x="274320" y="2267712"/>
          <a:ext cx="56692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5" name="Shape 82"/>
          <p:cNvSpPr/>
          <p:nvPr/>
        </p:nvSpPr>
        <p:spPr>
          <a:xfrm>
            <a:off x="6217920" y="1975104"/>
            <a:ext cx="283464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Text 83"/>
          <p:cNvSpPr/>
          <p:nvPr/>
        </p:nvSpPr>
        <p:spPr>
          <a:xfrm>
            <a:off x="6382512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6382512" y="2276856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88" name="Chart 1"/>
          <p:cNvGraphicFramePr/>
          <p:nvPr/>
        </p:nvGraphicFramePr>
        <p:xfrm>
          <a:off x="6291072" y="2286000"/>
          <a:ext cx="26517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9" name="Shape 85"/>
          <p:cNvSpPr/>
          <p:nvPr/>
        </p:nvSpPr>
        <p:spPr>
          <a:xfrm>
            <a:off x="9217152" y="1975104"/>
            <a:ext cx="2770632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0" name="Text 86"/>
          <p:cNvSpPr/>
          <p:nvPr/>
        </p:nvSpPr>
        <p:spPr>
          <a:xfrm>
            <a:off x="9381744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950" dirty="0"/>
          </a:p>
        </p:txBody>
      </p:sp>
      <p:sp>
        <p:nvSpPr>
          <p:cNvPr id="91" name="Shape 87"/>
          <p:cNvSpPr/>
          <p:nvPr/>
        </p:nvSpPr>
        <p:spPr>
          <a:xfrm>
            <a:off x="9381744" y="2276856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92" name="Chart 2"/>
          <p:cNvGraphicFramePr/>
          <p:nvPr/>
        </p:nvGraphicFramePr>
        <p:xfrm>
          <a:off x="9217152" y="2286000"/>
          <a:ext cx="2770632" cy="1883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3" name="Shape 88"/>
          <p:cNvSpPr/>
          <p:nvPr/>
        </p:nvSpPr>
        <p:spPr>
          <a:xfrm>
            <a:off x="201168" y="4370832"/>
            <a:ext cx="5852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4" name="Text 89"/>
          <p:cNvSpPr/>
          <p:nvPr/>
        </p:nvSpPr>
        <p:spPr>
          <a:xfrm>
            <a:off x="365760" y="4462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Trend</a:t>
            </a:r>
            <a:endParaRPr lang="en-US" sz="950" dirty="0"/>
          </a:p>
        </p:txBody>
      </p:sp>
      <p:sp>
        <p:nvSpPr>
          <p:cNvPr id="95" name="Shape 90"/>
          <p:cNvSpPr/>
          <p:nvPr/>
        </p:nvSpPr>
        <p:spPr>
          <a:xfrm>
            <a:off x="365760" y="467258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96" name="Chart 3"/>
          <p:cNvGraphicFramePr/>
          <p:nvPr/>
        </p:nvGraphicFramePr>
        <p:xfrm>
          <a:off x="274320" y="4663440"/>
          <a:ext cx="56692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7" name="Shape 91"/>
          <p:cNvSpPr/>
          <p:nvPr/>
        </p:nvSpPr>
        <p:spPr>
          <a:xfrm>
            <a:off x="6217920" y="4370832"/>
            <a:ext cx="28346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8" name="Text 92"/>
          <p:cNvSpPr/>
          <p:nvPr/>
        </p:nvSpPr>
        <p:spPr>
          <a:xfrm>
            <a:off x="6382512" y="4462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Breakdown</a:t>
            </a:r>
            <a:endParaRPr lang="en-US" sz="950" dirty="0"/>
          </a:p>
        </p:txBody>
      </p:sp>
      <p:sp>
        <p:nvSpPr>
          <p:cNvPr id="99" name="Shape 93"/>
          <p:cNvSpPr/>
          <p:nvPr/>
        </p:nvSpPr>
        <p:spPr>
          <a:xfrm>
            <a:off x="6382512" y="467258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100" name="Chart 4"/>
          <p:cNvGraphicFramePr/>
          <p:nvPr/>
        </p:nvGraphicFramePr>
        <p:xfrm>
          <a:off x="6291072" y="4663440"/>
          <a:ext cx="2651760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1" name="Shape 94"/>
          <p:cNvSpPr/>
          <p:nvPr/>
        </p:nvSpPr>
        <p:spPr>
          <a:xfrm>
            <a:off x="9217152" y="4370832"/>
            <a:ext cx="2770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2" name="Text 95"/>
          <p:cNvSpPr/>
          <p:nvPr/>
        </p:nvSpPr>
        <p:spPr>
          <a:xfrm>
            <a:off x="9381744" y="4462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Ratios</a:t>
            </a:r>
            <a:endParaRPr lang="en-US" sz="950" dirty="0"/>
          </a:p>
        </p:txBody>
      </p:sp>
      <p:sp>
        <p:nvSpPr>
          <p:cNvPr id="103" name="Shape 96"/>
          <p:cNvSpPr/>
          <p:nvPr/>
        </p:nvSpPr>
        <p:spPr>
          <a:xfrm>
            <a:off x="9381744" y="467258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9272016" y="4700016"/>
            <a:ext cx="263347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>
            <a:off x="9272016" y="4700016"/>
            <a:ext cx="36576" cy="2743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6" name="Text 99"/>
          <p:cNvSpPr/>
          <p:nvPr/>
        </p:nvSpPr>
        <p:spPr>
          <a:xfrm>
            <a:off x="9345168" y="4745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Assets (ROA)</a:t>
            </a:r>
            <a:endParaRPr lang="en-US" sz="750" dirty="0"/>
          </a:p>
        </p:txBody>
      </p:sp>
      <p:sp>
        <p:nvSpPr>
          <p:cNvPr id="107" name="Text 100"/>
          <p:cNvSpPr/>
          <p:nvPr/>
        </p:nvSpPr>
        <p:spPr>
          <a:xfrm>
            <a:off x="11064240" y="47457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850" dirty="0"/>
          </a:p>
        </p:txBody>
      </p:sp>
      <p:sp>
        <p:nvSpPr>
          <p:cNvPr id="108" name="Shape 101"/>
          <p:cNvSpPr/>
          <p:nvPr/>
        </p:nvSpPr>
        <p:spPr>
          <a:xfrm>
            <a:off x="9272016" y="5038344"/>
            <a:ext cx="26334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9272016" y="5038344"/>
            <a:ext cx="36576" cy="2743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0" name="Text 103"/>
          <p:cNvSpPr/>
          <p:nvPr/>
        </p:nvSpPr>
        <p:spPr>
          <a:xfrm>
            <a:off x="9345168" y="5084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(ROE)</a:t>
            </a:r>
            <a:endParaRPr lang="en-US" sz="750" dirty="0"/>
          </a:p>
        </p:txBody>
      </p:sp>
      <p:sp>
        <p:nvSpPr>
          <p:cNvPr id="111" name="Text 104"/>
          <p:cNvSpPr/>
          <p:nvPr/>
        </p:nvSpPr>
        <p:spPr>
          <a:xfrm>
            <a:off x="11064240" y="50840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850" dirty="0"/>
          </a:p>
        </p:txBody>
      </p:sp>
      <p:sp>
        <p:nvSpPr>
          <p:cNvPr id="112" name="Shape 105"/>
          <p:cNvSpPr/>
          <p:nvPr/>
        </p:nvSpPr>
        <p:spPr>
          <a:xfrm>
            <a:off x="9272016" y="5376672"/>
            <a:ext cx="263347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>
            <a:off x="9272016" y="5376672"/>
            <a:ext cx="36576" cy="2743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4" name="Text 107"/>
          <p:cNvSpPr/>
          <p:nvPr/>
        </p:nvSpPr>
        <p:spPr>
          <a:xfrm>
            <a:off x="9345168" y="5422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</a:t>
            </a:r>
            <a:endParaRPr lang="en-US" sz="750" dirty="0"/>
          </a:p>
        </p:txBody>
      </p:sp>
      <p:sp>
        <p:nvSpPr>
          <p:cNvPr id="115" name="Text 108"/>
          <p:cNvSpPr/>
          <p:nvPr/>
        </p:nvSpPr>
        <p:spPr>
          <a:xfrm>
            <a:off x="11064240" y="54223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1.87x</a:t>
            </a:r>
            <a:endParaRPr lang="en-US" sz="850" dirty="0"/>
          </a:p>
        </p:txBody>
      </p:sp>
      <p:sp>
        <p:nvSpPr>
          <p:cNvPr id="116" name="Shape 109"/>
          <p:cNvSpPr/>
          <p:nvPr/>
        </p:nvSpPr>
        <p:spPr>
          <a:xfrm>
            <a:off x="9272016" y="5715000"/>
            <a:ext cx="263347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>
            <a:off x="9272016" y="5715000"/>
            <a:ext cx="36576" cy="2743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8" name="Text 111"/>
          <p:cNvSpPr/>
          <p:nvPr/>
        </p:nvSpPr>
        <p:spPr>
          <a:xfrm>
            <a:off x="9345168" y="5760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to Equity</a:t>
            </a:r>
            <a:endParaRPr lang="en-US" sz="750" dirty="0"/>
          </a:p>
        </p:txBody>
      </p:sp>
      <p:sp>
        <p:nvSpPr>
          <p:cNvPr id="119" name="Text 112"/>
          <p:cNvSpPr/>
          <p:nvPr/>
        </p:nvSpPr>
        <p:spPr>
          <a:xfrm>
            <a:off x="11064240" y="57607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0.62x</a:t>
            </a:r>
            <a:endParaRPr lang="en-US" sz="850" dirty="0"/>
          </a:p>
        </p:txBody>
      </p:sp>
      <p:sp>
        <p:nvSpPr>
          <p:cNvPr id="120" name="Shape 113"/>
          <p:cNvSpPr/>
          <p:nvPr/>
        </p:nvSpPr>
        <p:spPr>
          <a:xfrm>
            <a:off x="9272016" y="6053328"/>
            <a:ext cx="263347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9272016" y="6053328"/>
            <a:ext cx="36576" cy="2743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2" name="Text 115"/>
          <p:cNvSpPr/>
          <p:nvPr/>
        </p:nvSpPr>
        <p:spPr>
          <a:xfrm>
            <a:off x="9345168" y="6099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750" dirty="0"/>
          </a:p>
        </p:txBody>
      </p:sp>
      <p:sp>
        <p:nvSpPr>
          <p:cNvPr id="123" name="Text 116"/>
          <p:cNvSpPr/>
          <p:nvPr/>
        </p:nvSpPr>
        <p:spPr>
          <a:xfrm>
            <a:off x="11064240" y="60990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01168" y="91440"/>
            <a:ext cx="201168" cy="2011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09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AQUAFLOW UTILITIES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3776" y="30175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Dashboard  |  FY 2024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solidFill>
            <a:srgbClr val="0E7C86"/>
          </a:solidFill>
          <a:ln w="6350">
            <a:solidFill>
              <a:srgbClr val="14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Detail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662025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 |  AquaFlow Utilities Group  |  Finance &amp; Strategy Division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704320" y="6620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0" y="475488"/>
            <a:ext cx="1218895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5760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Jan – Aug 2024  |  Segment: All Regions  |  View: Month-to-Date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1168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5.06M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5760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+4.8% QoQ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70432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Actuals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23744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23744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REVENUE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88336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1.87M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688336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8336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-1.5% QoQ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93008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Ratio: 37.0%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846320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10912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3.19M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010912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+3.2% QoQ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815584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Margin: 63.0%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168896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68896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3488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33488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2.83M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7333488" y="1591056"/>
            <a:ext cx="73152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33488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+2.8% QoQ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138160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Ratio: 55.9%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491472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491472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56064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656064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358K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9656064" y="1591056"/>
            <a:ext cx="73152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56064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-8.3% QoQ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0460736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 7.1%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01168" y="1975104"/>
            <a:ext cx="58521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65760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Trend — Monthly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2276856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59" name="Chart 0"/>
          <p:cNvGraphicFramePr/>
          <p:nvPr/>
        </p:nvGraphicFramePr>
        <p:xfrm>
          <a:off x="274320" y="2286000"/>
          <a:ext cx="5669280" cy="1883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0" name="Shape 57"/>
          <p:cNvSpPr/>
          <p:nvPr/>
        </p:nvSpPr>
        <p:spPr>
          <a:xfrm>
            <a:off x="6217920" y="1975104"/>
            <a:ext cx="5769864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6382512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Expenses — Account Level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6382512" y="2276856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63" name="Chart 1"/>
          <p:cNvGraphicFramePr/>
          <p:nvPr/>
        </p:nvGraphicFramePr>
        <p:xfrm>
          <a:off x="6263640" y="2286000"/>
          <a:ext cx="5623560" cy="1883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4" name="Shape 60"/>
          <p:cNvSpPr/>
          <p:nvPr/>
        </p:nvSpPr>
        <p:spPr>
          <a:xfrm>
            <a:off x="201168" y="4370832"/>
            <a:ext cx="4572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Text 61"/>
          <p:cNvSpPr/>
          <p:nvPr/>
        </p:nvSpPr>
        <p:spPr>
          <a:xfrm>
            <a:off x="365760" y="4462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— Trend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365760" y="467258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67" name="Chart 2"/>
          <p:cNvGraphicFramePr/>
          <p:nvPr/>
        </p:nvGraphicFramePr>
        <p:xfrm>
          <a:off x="256032" y="4663440"/>
          <a:ext cx="4434840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8" name="Shape 63"/>
          <p:cNvSpPr/>
          <p:nvPr/>
        </p:nvSpPr>
        <p:spPr>
          <a:xfrm>
            <a:off x="4937760" y="4370832"/>
            <a:ext cx="340156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9" name="Text 64"/>
          <p:cNvSpPr/>
          <p:nvPr/>
        </p:nvSpPr>
        <p:spPr>
          <a:xfrm>
            <a:off x="5102352" y="4462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Mix</a:t>
            </a:r>
            <a:endParaRPr lang="en-US" sz="950" dirty="0"/>
          </a:p>
        </p:txBody>
      </p:sp>
      <p:sp>
        <p:nvSpPr>
          <p:cNvPr id="70" name="Shape 65"/>
          <p:cNvSpPr/>
          <p:nvPr/>
        </p:nvSpPr>
        <p:spPr>
          <a:xfrm>
            <a:off x="5102352" y="467258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71" name="Chart 3"/>
          <p:cNvGraphicFramePr/>
          <p:nvPr/>
        </p:nvGraphicFramePr>
        <p:xfrm>
          <a:off x="4983480" y="4663440"/>
          <a:ext cx="3273552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2" name="Shape 66"/>
          <p:cNvSpPr/>
          <p:nvPr/>
        </p:nvSpPr>
        <p:spPr>
          <a:xfrm>
            <a:off x="8503920" y="4370832"/>
            <a:ext cx="3483864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Text 67"/>
          <p:cNvSpPr/>
          <p:nvPr/>
        </p:nvSpPr>
        <p:spPr>
          <a:xfrm>
            <a:off x="8668512" y="4462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Summary</a:t>
            </a:r>
            <a:endParaRPr lang="en-US" sz="950" dirty="0"/>
          </a:p>
        </p:txBody>
      </p:sp>
      <p:sp>
        <p:nvSpPr>
          <p:cNvPr id="74" name="Shape 68"/>
          <p:cNvSpPr/>
          <p:nvPr/>
        </p:nvSpPr>
        <p:spPr>
          <a:xfrm>
            <a:off x="8668512" y="467258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49640" y="4700016"/>
          <a:ext cx="3383280" cy="148132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01168" y="91440"/>
            <a:ext cx="201168" cy="2011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09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AQUAFLOW UTILITIES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3776" y="30175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Dashboard  |  FY 2024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Detail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solidFill>
            <a:srgbClr val="0E7C86"/>
          </a:solidFill>
          <a:ln w="6350">
            <a:solidFill>
              <a:srgbClr val="14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662025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 |  AquaFlow Utilities Group  |  Finance &amp; Strategy Division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704320" y="6620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0" y="475488"/>
            <a:ext cx="1218895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5760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of:  31 August 2024  |  Currency: AED (000s)  |  Basis: Accrual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1168" y="877824"/>
            <a:ext cx="27614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877824"/>
            <a:ext cx="276148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0058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11887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221.9K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5760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+11.8% YoY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70432" y="16093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Prior Year: 198.4K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072384" y="877824"/>
            <a:ext cx="27614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72384" y="877824"/>
            <a:ext cx="276148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36976" y="10058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36976" y="11887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26.77M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236976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36976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+8.4% YoY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041648" y="16093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Liquidity: 12.1%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943600" y="877824"/>
            <a:ext cx="27614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0" y="877824"/>
            <a:ext cx="276148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10058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LIABILITIES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08192" y="11887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24.61M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108192" y="1591056"/>
            <a:ext cx="731520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+2.1% YoY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12864" y="16093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Debt Ratio: 44.7%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814816" y="877824"/>
            <a:ext cx="27614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814816" y="877824"/>
            <a:ext cx="276148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79408" y="10058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979408" y="11887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1.36M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8979408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79408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+8.8% YoY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784080" y="16093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Growth: 8.8%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01168" y="1938528"/>
            <a:ext cx="27614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19751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221.91K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072384" y="1938528"/>
            <a:ext cx="27614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82112" y="19751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26.77M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943600" y="1938528"/>
            <a:ext cx="27614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53328" y="19751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24.61M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814816" y="1938528"/>
            <a:ext cx="27614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24544" y="197510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1.36M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01168" y="2304288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65760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— Trend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2606040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60" name="Chart 0"/>
          <p:cNvGraphicFramePr/>
          <p:nvPr/>
        </p:nvGraphicFramePr>
        <p:xfrm>
          <a:off x="256032" y="2596896"/>
          <a:ext cx="3895344" cy="1426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" name="Shape 58"/>
          <p:cNvSpPr/>
          <p:nvPr/>
        </p:nvSpPr>
        <p:spPr>
          <a:xfrm>
            <a:off x="4389120" y="2304288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4553712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 — Trend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4553712" y="2606040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64" name="Chart 1"/>
          <p:cNvGraphicFramePr/>
          <p:nvPr/>
        </p:nvGraphicFramePr>
        <p:xfrm>
          <a:off x="4434840" y="2596896"/>
          <a:ext cx="3895344" cy="1426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5" name="Shape 61"/>
          <p:cNvSpPr/>
          <p:nvPr/>
        </p:nvSpPr>
        <p:spPr>
          <a:xfrm>
            <a:off x="8577072" y="2304288"/>
            <a:ext cx="341071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2"/>
          <p:cNvSpPr/>
          <p:nvPr/>
        </p:nvSpPr>
        <p:spPr>
          <a:xfrm>
            <a:off x="8741664" y="2395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Composition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8741664" y="2606040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68" name="Chart 2"/>
          <p:cNvGraphicFramePr/>
          <p:nvPr/>
        </p:nvGraphicFramePr>
        <p:xfrm>
          <a:off x="8613648" y="2578608"/>
          <a:ext cx="32918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9" name="Shape 64"/>
          <p:cNvSpPr/>
          <p:nvPr/>
        </p:nvSpPr>
        <p:spPr>
          <a:xfrm>
            <a:off x="201168" y="4224528"/>
            <a:ext cx="11786616" cy="22494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Text 65"/>
          <p:cNvSpPr/>
          <p:nvPr/>
        </p:nvSpPr>
        <p:spPr>
          <a:xfrm>
            <a:off x="365760" y="4315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— Account Detail</a:t>
            </a:r>
            <a:endParaRPr lang="en-US" sz="950" dirty="0"/>
          </a:p>
        </p:txBody>
      </p:sp>
      <p:sp>
        <p:nvSpPr>
          <p:cNvPr id="71" name="Shape 66"/>
          <p:cNvSpPr/>
          <p:nvPr/>
        </p:nvSpPr>
        <p:spPr>
          <a:xfrm>
            <a:off x="365760" y="4526280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967622"/>
              </p:ext>
            </p:extLst>
          </p:nvPr>
        </p:nvGraphicFramePr>
        <p:xfrm>
          <a:off x="210133" y="4567428"/>
          <a:ext cx="11762230" cy="2011680"/>
        </p:xfrm>
        <a:graphic>
          <a:graphicData uri="http://schemas.openxmlformats.org/drawingml/2006/table">
            <a:tbl>
              <a:tblPr/>
              <a:tblGrid>
                <a:gridCol w="3456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8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1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37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 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3 Mo.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6 Mo.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12 Mo.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9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 — Cash &amp; Bank Equivalents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4,280,192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3,950,441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9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 — Trade Receivables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7,145,880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6,920,000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9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— Inventory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2,342,600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9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— Prepaid &amp; Other Current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7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Assets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14,968,672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14,470,441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13,880,000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12,850,000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11,780,000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7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LIABILITIES &amp; EQUITY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9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— Accounts Payable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9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 — Accrued Liabilities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01168" y="91440"/>
            <a:ext cx="201168" cy="2011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09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AQUAFLOW UTILITIES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3776" y="30175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Dashboard  |  FY 2024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Detail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solidFill>
            <a:srgbClr val="0E7C86"/>
          </a:solidFill>
          <a:ln w="6350">
            <a:solidFill>
              <a:srgbClr val="14A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662025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 |  AquaFlow Utilities Group  |  Finance &amp; Strategy Division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704320" y="6620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0" y="475488"/>
            <a:ext cx="1218895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5760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Jan – Aug 2024  |  YTD Actuals vs Budget  |  Currency: AED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1168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6.84M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5760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+5.2% YoY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70432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23744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23744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88336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4.63M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688336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8336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+7.8% YoY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93008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Margin: 67.7%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846320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10912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1.12M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010912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+9.1% YoY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815584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Margin: 16.4%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168896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68896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3488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33488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762K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7333488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33488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+12.4% YoY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138160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 11.1%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491472" y="877824"/>
            <a:ext cx="221284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491472" y="877824"/>
            <a:ext cx="221284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56064" y="10058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(Basic)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656064" y="11887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0.382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9656064" y="1591056"/>
            <a:ext cx="731520" cy="1828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56064" y="15910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+12.4% YoY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0460736" y="16093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Shares: 2.0M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01168" y="1975104"/>
            <a:ext cx="58521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65760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Bridge — Revenue to Net Profit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2276856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59" name="Chart 0"/>
          <p:cNvGraphicFramePr/>
          <p:nvPr/>
        </p:nvGraphicFramePr>
        <p:xfrm>
          <a:off x="256032" y="2267712"/>
          <a:ext cx="5724144" cy="1792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0" name="Shape 57"/>
          <p:cNvSpPr/>
          <p:nvPr/>
        </p:nvSpPr>
        <p:spPr>
          <a:xfrm>
            <a:off x="6217920" y="1975104"/>
            <a:ext cx="5769864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6382512" y="2066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Comparison — P&amp;L Lines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6382512" y="2276856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63" name="Chart 1"/>
          <p:cNvGraphicFramePr/>
          <p:nvPr/>
        </p:nvGraphicFramePr>
        <p:xfrm>
          <a:off x="6263640" y="2267712"/>
          <a:ext cx="5650992" cy="1792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4" name="Shape 60"/>
          <p:cNvSpPr/>
          <p:nvPr/>
        </p:nvSpPr>
        <p:spPr>
          <a:xfrm>
            <a:off x="201168" y="4261104"/>
            <a:ext cx="11786616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Text 61"/>
          <p:cNvSpPr/>
          <p:nvPr/>
        </p:nvSpPr>
        <p:spPr>
          <a:xfrm>
            <a:off x="365760" y="4352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— Line Item Detail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365760" y="4562856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153091"/>
              </p:ext>
            </p:extLst>
          </p:nvPr>
        </p:nvGraphicFramePr>
        <p:xfrm>
          <a:off x="211206" y="4619596"/>
          <a:ext cx="11776576" cy="2415540"/>
        </p:xfrm>
        <a:graphic>
          <a:graphicData uri="http://schemas.openxmlformats.org/drawingml/2006/table">
            <a:tbl>
              <a:tblPr/>
              <a:tblGrid>
                <a:gridCol w="3321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3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8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58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YTD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YTD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vs Bud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vs 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Supply Services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2,601,400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Sewage &amp; Waste Services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1,846,200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Contracts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1,231,800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Contracts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820,600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Revenue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6,840,000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6,650,000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6,340,000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Labour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890,400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 &amp; Supplies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748,200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700,000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2,210,000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2,150,000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2,050,000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01168" y="91440"/>
            <a:ext cx="201168" cy="2011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" y="109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AQUAFLOW UTILITIES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3776" y="30175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Dashboard  |  FY 2024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9352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68696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Detail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solidFill>
            <a:srgbClr val="152F4F"/>
          </a:solidFill>
          <a:ln w="6350">
            <a:solidFill>
              <a:srgbClr val="1E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7384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solidFill>
            <a:srgbClr val="0E7C86"/>
          </a:solidFill>
          <a:ln w="6350">
            <a:solidFill>
              <a:srgbClr val="14A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96728" y="64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6620256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 |  AquaFlow Utilities Group  |  Finance &amp; Strategy Division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704320" y="66202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0" y="475488"/>
            <a:ext cx="1218895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5760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Aug 2024  |  Metric: Days  |  Benchmark: Industry Avg 35 days CCC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1168" y="877824"/>
            <a:ext cx="11887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932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 (CCC)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1152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 = DSO − DPO + DIO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06240" y="960120"/>
            <a:ext cx="1536192" cy="1143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9875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0" y="122529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Outstanding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206240" y="138988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815584" y="12984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291072" y="960120"/>
            <a:ext cx="1536192" cy="1143000"/>
          </a:xfrm>
          <a:prstGeom prst="rect">
            <a:avLst/>
          </a:prstGeom>
          <a:solidFill>
            <a:srgbClr val="344C64"/>
          </a:solidFill>
          <a:ln w="12700">
            <a:solidFill>
              <a:srgbClr val="344C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9875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91072" y="122529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Payables Outstanding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291072" y="138988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900416" y="12984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8375904" y="960120"/>
            <a:ext cx="1536192" cy="1143000"/>
          </a:xfrm>
          <a:prstGeom prst="rect">
            <a:avLst/>
          </a:prstGeom>
          <a:solidFill>
            <a:srgbClr val="14A8B5"/>
          </a:solidFill>
          <a:ln w="12700">
            <a:solidFill>
              <a:srgbClr val="14A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75904" y="9875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75904" y="122529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4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Inventory Outstanding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375904" y="138988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9985248" y="12984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10460736" y="960120"/>
            <a:ext cx="1572768" cy="1143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60736" y="9875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460736" y="122529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 Cycle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0460736" y="138988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201168" y="2359152"/>
            <a:ext cx="374904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Ageing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266090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2779776"/>
            <a:ext cx="731520" cy="731520"/>
          </a:xfrm>
          <a:prstGeom prst="rect">
            <a:avLst/>
          </a:prstGeom>
          <a:solidFill>
            <a:srgbClr val="D4F1F4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7797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74320" y="35295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(days)</a:t>
            </a:r>
            <a:endParaRPr lang="en-US" sz="6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761488"/>
          <a:ext cx="2743200" cy="1600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AED K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% Total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Current (0–30d)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4,280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48.2%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31–60 Days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2,140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24.1%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61–90 Days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1,420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16.0%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91–120 Days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640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7.2%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120+ Days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420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4.5%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Total AR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8,900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Shape 47"/>
          <p:cNvSpPr/>
          <p:nvPr/>
        </p:nvSpPr>
        <p:spPr>
          <a:xfrm>
            <a:off x="4023360" y="2359152"/>
            <a:ext cx="374904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4187952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Trend — 12 Months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187952" y="266090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53" name="Chart 0"/>
          <p:cNvGraphicFramePr/>
          <p:nvPr/>
        </p:nvGraphicFramePr>
        <p:xfrm>
          <a:off x="4078224" y="2670048"/>
          <a:ext cx="3621024" cy="1810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4" name="Shape 50"/>
          <p:cNvSpPr/>
          <p:nvPr/>
        </p:nvSpPr>
        <p:spPr>
          <a:xfrm>
            <a:off x="7936992" y="2359152"/>
            <a:ext cx="374904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1"/>
          <p:cNvSpPr/>
          <p:nvPr/>
        </p:nvSpPr>
        <p:spPr>
          <a:xfrm>
            <a:off x="8101584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Payables Ageing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8101584" y="2660904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010144" y="2779776"/>
            <a:ext cx="731520" cy="73152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8010144" y="27797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</a:t>
            </a:r>
            <a:endParaRPr lang="en-US" sz="1800" dirty="0"/>
          </a:p>
        </p:txBody>
      </p:sp>
      <p:sp>
        <p:nvSpPr>
          <p:cNvPr id="59" name="Text 55"/>
          <p:cNvSpPr/>
          <p:nvPr/>
        </p:nvSpPr>
        <p:spPr>
          <a:xfrm>
            <a:off x="8010144" y="35295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(days)</a:t>
            </a:r>
            <a:endParaRPr lang="en-US" sz="650" dirty="0"/>
          </a:p>
        </p:txBody>
      </p:sp>
      <p:graphicFrame>
        <p:nvGraphicFramePr>
          <p:cNvPr id="6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33104" y="2761488"/>
          <a:ext cx="2724912" cy="1371600"/>
        </p:xfrm>
        <a:graphic>
          <a:graphicData uri="http://schemas.openxmlformats.org/drawingml/2006/table">
            <a:tbl>
              <a:tblPr/>
              <a:tblGrid>
                <a:gridCol w="1408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AED K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% Total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Current (0–30d)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2,180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52.1%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31–60 Days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1,050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25.1%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61–90 Days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620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14.8%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91+ Days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330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8.0%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Total AP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4,180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" name="Shape 56"/>
          <p:cNvSpPr/>
          <p:nvPr/>
        </p:nvSpPr>
        <p:spPr>
          <a:xfrm>
            <a:off x="201168" y="4663440"/>
            <a:ext cx="7827264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57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 Trend — 12 Months (days)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365760" y="4965192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64" name="Chart 1"/>
          <p:cNvGraphicFramePr/>
          <p:nvPr/>
        </p:nvGraphicFramePr>
        <p:xfrm>
          <a:off x="256032" y="4974336"/>
          <a:ext cx="768096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5" name="Shape 59"/>
          <p:cNvSpPr/>
          <p:nvPr/>
        </p:nvSpPr>
        <p:spPr>
          <a:xfrm>
            <a:off x="8193024" y="4663440"/>
            <a:ext cx="3895344" cy="19751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0"/>
          <p:cNvSpPr/>
          <p:nvPr/>
        </p:nvSpPr>
        <p:spPr>
          <a:xfrm>
            <a:off x="8357616" y="4754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 Benchmark</a:t>
            </a:r>
            <a:endParaRPr lang="en-US" sz="950" dirty="0"/>
          </a:p>
        </p:txBody>
      </p:sp>
      <p:sp>
        <p:nvSpPr>
          <p:cNvPr id="67" name="Shape 61"/>
          <p:cNvSpPr/>
          <p:nvPr/>
        </p:nvSpPr>
        <p:spPr>
          <a:xfrm>
            <a:off x="8357616" y="4965192"/>
            <a:ext cx="274320" cy="320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8247888" y="5029200"/>
            <a:ext cx="374904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8247888" y="5029200"/>
            <a:ext cx="36576" cy="31089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8321040" y="5093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</a:t>
            </a:r>
            <a:endParaRPr lang="en-US" sz="850" dirty="0"/>
          </a:p>
        </p:txBody>
      </p:sp>
      <p:sp>
        <p:nvSpPr>
          <p:cNvPr id="71" name="Text 65"/>
          <p:cNvSpPr/>
          <p:nvPr/>
        </p:nvSpPr>
        <p:spPr>
          <a:xfrm>
            <a:off x="9089136" y="5093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19.4d</a:t>
            </a:r>
            <a:endParaRPr lang="en-US" sz="750" dirty="0"/>
          </a:p>
        </p:txBody>
      </p:sp>
      <p:sp>
        <p:nvSpPr>
          <p:cNvPr id="72" name="Text 66"/>
          <p:cNvSpPr/>
          <p:nvPr/>
        </p:nvSpPr>
        <p:spPr>
          <a:xfrm>
            <a:off x="10314432" y="5093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25.0d</a:t>
            </a:r>
            <a:endParaRPr lang="en-US" sz="750" dirty="0"/>
          </a:p>
        </p:txBody>
      </p:sp>
      <p:sp>
        <p:nvSpPr>
          <p:cNvPr id="73" name="Shape 67"/>
          <p:cNvSpPr/>
          <p:nvPr/>
        </p:nvSpPr>
        <p:spPr>
          <a:xfrm>
            <a:off x="11356848" y="5102352"/>
            <a:ext cx="502920" cy="16459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4" name="Text 68"/>
          <p:cNvSpPr/>
          <p:nvPr/>
        </p:nvSpPr>
        <p:spPr>
          <a:xfrm>
            <a:off x="11356848" y="51023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BEAT</a:t>
            </a:r>
            <a:endParaRPr lang="en-US" sz="650" dirty="0"/>
          </a:p>
        </p:txBody>
      </p:sp>
      <p:sp>
        <p:nvSpPr>
          <p:cNvPr id="75" name="Shape 69"/>
          <p:cNvSpPr/>
          <p:nvPr/>
        </p:nvSpPr>
        <p:spPr>
          <a:xfrm>
            <a:off x="8247888" y="5376672"/>
            <a:ext cx="3749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8247888" y="5376672"/>
            <a:ext cx="36576" cy="31089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8321040" y="5440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850" dirty="0"/>
          </a:p>
        </p:txBody>
      </p:sp>
      <p:sp>
        <p:nvSpPr>
          <p:cNvPr id="78" name="Text 72"/>
          <p:cNvSpPr/>
          <p:nvPr/>
        </p:nvSpPr>
        <p:spPr>
          <a:xfrm>
            <a:off x="9089136" y="5440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14.3d</a:t>
            </a:r>
            <a:endParaRPr lang="en-US" sz="750" dirty="0"/>
          </a:p>
        </p:txBody>
      </p:sp>
      <p:sp>
        <p:nvSpPr>
          <p:cNvPr id="79" name="Text 73"/>
          <p:cNvSpPr/>
          <p:nvPr/>
        </p:nvSpPr>
        <p:spPr>
          <a:xfrm>
            <a:off x="10314432" y="5440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18.0d</a:t>
            </a:r>
            <a:endParaRPr lang="en-US" sz="750" dirty="0"/>
          </a:p>
        </p:txBody>
      </p:sp>
      <p:sp>
        <p:nvSpPr>
          <p:cNvPr id="80" name="Shape 74"/>
          <p:cNvSpPr/>
          <p:nvPr/>
        </p:nvSpPr>
        <p:spPr>
          <a:xfrm>
            <a:off x="11356848" y="5449824"/>
            <a:ext cx="502920" cy="16459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1" name="Text 75"/>
          <p:cNvSpPr/>
          <p:nvPr/>
        </p:nvSpPr>
        <p:spPr>
          <a:xfrm>
            <a:off x="11356848" y="54498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BEAT</a:t>
            </a:r>
            <a:endParaRPr lang="en-US" sz="650" dirty="0"/>
          </a:p>
        </p:txBody>
      </p:sp>
      <p:sp>
        <p:nvSpPr>
          <p:cNvPr id="82" name="Shape 76"/>
          <p:cNvSpPr/>
          <p:nvPr/>
        </p:nvSpPr>
        <p:spPr>
          <a:xfrm>
            <a:off x="8247888" y="5724144"/>
            <a:ext cx="374904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8247888" y="5724144"/>
            <a:ext cx="36576" cy="31089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4" name="Text 78"/>
          <p:cNvSpPr/>
          <p:nvPr/>
        </p:nvSpPr>
        <p:spPr>
          <a:xfrm>
            <a:off x="8321040" y="5788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</a:t>
            </a:r>
            <a:endParaRPr lang="en-US" sz="850" dirty="0"/>
          </a:p>
        </p:txBody>
      </p:sp>
      <p:sp>
        <p:nvSpPr>
          <p:cNvPr id="85" name="Text 79"/>
          <p:cNvSpPr/>
          <p:nvPr/>
        </p:nvSpPr>
        <p:spPr>
          <a:xfrm>
            <a:off x="9089136" y="5788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7.2d</a:t>
            </a:r>
            <a:endParaRPr lang="en-US" sz="750" dirty="0"/>
          </a:p>
        </p:txBody>
      </p:sp>
      <p:sp>
        <p:nvSpPr>
          <p:cNvPr id="86" name="Text 80"/>
          <p:cNvSpPr/>
          <p:nvPr/>
        </p:nvSpPr>
        <p:spPr>
          <a:xfrm>
            <a:off x="10314432" y="5788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10.0d</a:t>
            </a:r>
            <a:endParaRPr lang="en-US" sz="750" dirty="0"/>
          </a:p>
        </p:txBody>
      </p:sp>
      <p:sp>
        <p:nvSpPr>
          <p:cNvPr id="87" name="Shape 81"/>
          <p:cNvSpPr/>
          <p:nvPr/>
        </p:nvSpPr>
        <p:spPr>
          <a:xfrm>
            <a:off x="11356848" y="5797296"/>
            <a:ext cx="502920" cy="16459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8" name="Text 82"/>
          <p:cNvSpPr/>
          <p:nvPr/>
        </p:nvSpPr>
        <p:spPr>
          <a:xfrm>
            <a:off x="11356848" y="57972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BEAT</a:t>
            </a:r>
            <a:endParaRPr lang="en-US" sz="650" dirty="0"/>
          </a:p>
        </p:txBody>
      </p:sp>
      <p:sp>
        <p:nvSpPr>
          <p:cNvPr id="89" name="Shape 83"/>
          <p:cNvSpPr/>
          <p:nvPr/>
        </p:nvSpPr>
        <p:spPr>
          <a:xfrm>
            <a:off x="8247888" y="6071616"/>
            <a:ext cx="3749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8247888" y="6071616"/>
            <a:ext cx="36576" cy="31089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1" name="Text 85"/>
          <p:cNvSpPr/>
          <p:nvPr/>
        </p:nvSpPr>
        <p:spPr>
          <a:xfrm>
            <a:off x="8321040" y="6135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</a:t>
            </a:r>
            <a:endParaRPr lang="en-US" sz="850" dirty="0"/>
          </a:p>
        </p:txBody>
      </p:sp>
      <p:sp>
        <p:nvSpPr>
          <p:cNvPr id="92" name="Text 86"/>
          <p:cNvSpPr/>
          <p:nvPr/>
        </p:nvSpPr>
        <p:spPr>
          <a:xfrm>
            <a:off x="9089136" y="61356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4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12.3d</a:t>
            </a:r>
            <a:endParaRPr lang="en-US" sz="750" dirty="0"/>
          </a:p>
        </p:txBody>
      </p:sp>
      <p:sp>
        <p:nvSpPr>
          <p:cNvPr id="93" name="Text 87"/>
          <p:cNvSpPr/>
          <p:nvPr/>
        </p:nvSpPr>
        <p:spPr>
          <a:xfrm>
            <a:off x="10314432" y="61356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35.0d</a:t>
            </a:r>
            <a:endParaRPr lang="en-US" sz="750" dirty="0"/>
          </a:p>
        </p:txBody>
      </p:sp>
      <p:sp>
        <p:nvSpPr>
          <p:cNvPr id="94" name="Shape 88"/>
          <p:cNvSpPr/>
          <p:nvPr/>
        </p:nvSpPr>
        <p:spPr>
          <a:xfrm>
            <a:off x="11356848" y="6144768"/>
            <a:ext cx="502920" cy="16459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5" name="Text 89"/>
          <p:cNvSpPr/>
          <p:nvPr/>
        </p:nvSpPr>
        <p:spPr>
          <a:xfrm>
            <a:off x="11356848" y="6144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BEAT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1121</Words>
  <Application>Microsoft Office PowerPoint</Application>
  <PresentationFormat>Widescreen</PresentationFormat>
  <Paragraphs>434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AquaFlow Utilities — Financial Dashboard FY2024</dc:title>
  <dc:subject>PptxGenJS Presentation</dc:subject>
  <dc:creator>Data Analytics &amp; Business Intelligence</dc:creator>
  <cp:lastModifiedBy>Data Analyst</cp:lastModifiedBy>
  <cp:revision>2</cp:revision>
  <dcterms:created xsi:type="dcterms:W3CDTF">2026-06-06T11:14:10Z</dcterms:created>
  <dcterms:modified xsi:type="dcterms:W3CDTF">2026-06-06T11:24:16Z</dcterms:modified>
</cp:coreProperties>
</file>